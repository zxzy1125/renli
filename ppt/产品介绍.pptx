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61B"/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645920"/>
            <a:ext cx="4114800" cy="4114800"/>
          </a:xfrm>
          <a:prstGeom prst="ellipse">
            <a:avLst/>
          </a:prstGeom>
          <a:solidFill>
            <a:srgbClr val="2E635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DFB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招聘辅助工具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960120" y="3337560"/>
            <a:ext cx="1645920" cy="54864"/>
          </a:xfrm>
          <a:prstGeom prst="rect">
            <a:avLst/>
          </a:prstGeom>
          <a:solidFill>
            <a:srgbClr val="D9761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69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半人工 · 让每个员工都拥有资深顾问的效率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人力代招公司专用 · v1.0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384048"/>
          </a:xfrm>
          <a:prstGeom prst="rect">
            <a:avLst/>
          </a:prstGeom>
          <a:solidFill>
            <a:srgbClr val="D9761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10212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110212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12700">
            <a:solidFill>
              <a:srgbClr val="E5DF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5455768" cy="1129284"/>
          </a:xfrm>
          <a:prstGeom prst="roundRect">
            <a:avLst>
              <a:gd name="adj" fmla="val 4049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34440"/>
            <a:ext cx="914400" cy="1129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45920" y="1325880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45920" y="1673352"/>
            <a:ext cx="408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起草 + 人工审核 半人工工作流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1234440"/>
            <a:ext cx="5455768" cy="1129284"/>
          </a:xfrm>
          <a:prstGeom prst="roundRect">
            <a:avLst>
              <a:gd name="adj" fmla="val 4049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7328" y="1234440"/>
            <a:ext cx="914400" cy="1129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67448" y="1325880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给员工的优势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67448" y="1673352"/>
            <a:ext cx="408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大提效能力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64892"/>
            <a:ext cx="5455768" cy="1129284"/>
          </a:xfrm>
          <a:prstGeom prst="roundRect">
            <a:avLst>
              <a:gd name="adj" fmla="val 4049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564892"/>
            <a:ext cx="914400" cy="1129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645920" y="2656332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给公司管理的优势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3003804"/>
            <a:ext cx="408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大管理能力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78728" y="2564892"/>
            <a:ext cx="5455768" cy="1129284"/>
          </a:xfrm>
          <a:prstGeom prst="roundRect">
            <a:avLst>
              <a:gd name="adj" fmla="val 4049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7328" y="2564892"/>
            <a:ext cx="914400" cy="1129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467448" y="2656332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员工绩效管理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67448" y="3003804"/>
            <a:ext cx="408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大能力 + 10 指标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95344"/>
            <a:ext cx="5455768" cy="1129284"/>
          </a:xfrm>
          <a:prstGeom prst="roundRect">
            <a:avLst>
              <a:gd name="adj" fmla="val 4049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895344"/>
            <a:ext cx="914400" cy="1129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645920" y="3986784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vs 本工具对比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45920" y="4334256"/>
            <a:ext cx="408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员工视角 + 管理视角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78728" y="3895344"/>
            <a:ext cx="5455768" cy="1129284"/>
          </a:xfrm>
          <a:prstGeom prst="roundRect">
            <a:avLst>
              <a:gd name="adj" fmla="val 4049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7328" y="3895344"/>
            <a:ext cx="914400" cy="1129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467448" y="3986784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典型一天工作对比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67448" y="4334256"/>
            <a:ext cx="408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从绝望到高效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225796"/>
            <a:ext cx="5455768" cy="1129284"/>
          </a:xfrm>
          <a:prstGeom prst="roundRect">
            <a:avLst>
              <a:gd name="adj" fmla="val 4049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225796"/>
            <a:ext cx="914400" cy="1129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645920" y="5317236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投入产出分析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645920" y="5664708"/>
            <a:ext cx="408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人团队月增 59.7 万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78728" y="5225796"/>
            <a:ext cx="5455768" cy="1129284"/>
          </a:xfrm>
          <a:prstGeom prst="roundRect">
            <a:avLst>
              <a:gd name="adj" fmla="val 4049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07328" y="5225796"/>
            <a:ext cx="914400" cy="1129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467448" y="5317236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467448" y="5664708"/>
            <a:ext cx="408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三层定位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094415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384048"/>
          </a:xfrm>
          <a:prstGeom prst="rect">
            <a:avLst/>
          </a:prstGeom>
          <a:solidFill>
            <a:srgbClr val="D9761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10212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起草 + 人工审核 = 半人工工作流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110212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 · PRODUCT POSITIONING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12700">
            <a:solidFill>
              <a:srgbClr val="E5DF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7152" y="155448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7152" y="1554480"/>
            <a:ext cx="1920240" cy="91440"/>
          </a:xfrm>
          <a:prstGeom prst="roundRect">
            <a:avLst>
              <a:gd name="adj" fmla="val 80000"/>
            </a:avLst>
          </a:prstGeom>
          <a:solidFill>
            <a:srgbClr val="2E6350"/>
          </a:solidFill>
          <a:ln/>
        </p:spPr>
      </p:sp>
      <p:sp>
        <p:nvSpPr>
          <p:cNvPr id="8" name="Shape 6"/>
          <p:cNvSpPr/>
          <p:nvPr/>
        </p:nvSpPr>
        <p:spPr>
          <a:xfrm>
            <a:off x="1167232" y="1874520"/>
            <a:ext cx="640080" cy="640080"/>
          </a:xfrm>
          <a:prstGeom prst="ellipse">
            <a:avLst/>
          </a:prstGeom>
          <a:solidFill>
            <a:srgbClr val="2E6350"/>
          </a:solidFill>
          <a:ln/>
        </p:spPr>
      </p:sp>
      <p:sp>
        <p:nvSpPr>
          <p:cNvPr id="9" name="Text 7"/>
          <p:cNvSpPr/>
          <p:nvPr/>
        </p:nvSpPr>
        <p:spPr>
          <a:xfrm>
            <a:off x="1194664" y="19019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4312" y="2651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管理员录入职位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4312" y="3337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解析成结构化字段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47392" y="274320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831440" y="155448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1440" y="1554480"/>
            <a:ext cx="1920240" cy="91440"/>
          </a:xfrm>
          <a:prstGeom prst="roundRect">
            <a:avLst>
              <a:gd name="adj" fmla="val 80000"/>
            </a:avLst>
          </a:prstGeom>
          <a:solidFill>
            <a:srgbClr val="2E6350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1520" y="1874520"/>
            <a:ext cx="640080" cy="640080"/>
          </a:xfrm>
          <a:prstGeom prst="ellipse">
            <a:avLst/>
          </a:prstGeom>
          <a:solidFill>
            <a:srgbClr val="2E6350"/>
          </a:solidFill>
          <a:ln/>
        </p:spPr>
      </p:sp>
      <p:sp>
        <p:nvSpPr>
          <p:cNvPr id="16" name="Text 14"/>
          <p:cNvSpPr/>
          <p:nvPr/>
        </p:nvSpPr>
        <p:spPr>
          <a:xfrm>
            <a:off x="3498952" y="19019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968600" y="2651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员工录入简历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68600" y="3337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识别画像/共同点/风险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1680" y="274320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135728" y="155448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35728" y="1554480"/>
            <a:ext cx="1920240" cy="91440"/>
          </a:xfrm>
          <a:prstGeom prst="roundRect">
            <a:avLst>
              <a:gd name="adj" fmla="val 80000"/>
            </a:avLst>
          </a:prstGeom>
          <a:solidFill>
            <a:srgbClr val="D9761B"/>
          </a:solidFill>
          <a:ln/>
        </p:spPr>
      </p:sp>
      <p:sp>
        <p:nvSpPr>
          <p:cNvPr id="22" name="Shape 20"/>
          <p:cNvSpPr/>
          <p:nvPr/>
        </p:nvSpPr>
        <p:spPr>
          <a:xfrm>
            <a:off x="5775808" y="1874520"/>
            <a:ext cx="640080" cy="640080"/>
          </a:xfrm>
          <a:prstGeom prst="ellipse">
            <a:avLst/>
          </a:prstGeom>
          <a:solidFill>
            <a:srgbClr val="D9761B"/>
          </a:solidFill>
          <a:ln/>
        </p:spPr>
      </p:sp>
      <p:sp>
        <p:nvSpPr>
          <p:cNvPr id="23" name="Text 21"/>
          <p:cNvSpPr/>
          <p:nvPr/>
        </p:nvSpPr>
        <p:spPr>
          <a:xfrm>
            <a:off x="5803240" y="19019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272888" y="2651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选职位 + 简历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72888" y="3337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生成匹配 + 18 条话术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55968" y="274320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440016" y="155448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40016" y="1554480"/>
            <a:ext cx="1920240" cy="91440"/>
          </a:xfrm>
          <a:prstGeom prst="roundRect">
            <a:avLst>
              <a:gd name="adj" fmla="val 80000"/>
            </a:avLst>
          </a:prstGeom>
          <a:solidFill>
            <a:srgbClr val="2E6350"/>
          </a:solidFill>
          <a:ln/>
        </p:spPr>
      </p:sp>
      <p:sp>
        <p:nvSpPr>
          <p:cNvPr id="29" name="Shape 27"/>
          <p:cNvSpPr/>
          <p:nvPr/>
        </p:nvSpPr>
        <p:spPr>
          <a:xfrm>
            <a:off x="8080096" y="1874520"/>
            <a:ext cx="640080" cy="640080"/>
          </a:xfrm>
          <a:prstGeom prst="ellipse">
            <a:avLst/>
          </a:prstGeom>
          <a:solidFill>
            <a:srgbClr val="2E6350"/>
          </a:solidFill>
          <a:ln/>
        </p:spPr>
      </p:sp>
      <p:sp>
        <p:nvSpPr>
          <p:cNvPr id="30" name="Text 28"/>
          <p:cNvSpPr/>
          <p:nvPr/>
        </p:nvSpPr>
        <p:spPr>
          <a:xfrm>
            <a:off x="8107528" y="19019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577176" y="2651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自动跟进回访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77176" y="3337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作战卡片 + 深度分析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60256" y="274320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9744304" y="155448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44304" y="1554480"/>
            <a:ext cx="1920240" cy="91440"/>
          </a:xfrm>
          <a:prstGeom prst="roundRect">
            <a:avLst>
              <a:gd name="adj" fmla="val 80000"/>
            </a:avLst>
          </a:prstGeom>
          <a:solidFill>
            <a:srgbClr val="2E6350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84384" y="1874520"/>
            <a:ext cx="640080" cy="640080"/>
          </a:xfrm>
          <a:prstGeom prst="ellipse">
            <a:avLst/>
          </a:prstGeom>
          <a:solidFill>
            <a:srgbClr val="2E6350"/>
          </a:solidFill>
          <a:ln/>
        </p:spPr>
      </p:sp>
      <p:sp>
        <p:nvSpPr>
          <p:cNvPr id="37" name="Text 35"/>
          <p:cNvSpPr/>
          <p:nvPr/>
        </p:nvSpPr>
        <p:spPr>
          <a:xfrm>
            <a:off x="10411816" y="19019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881464" y="2651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管理员看板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881464" y="3337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团队漏斗 + 员工绩效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28800" y="4709160"/>
            <a:ext cx="8534095" cy="777240"/>
          </a:xfrm>
          <a:prstGeom prst="roundRect">
            <a:avLst>
              <a:gd name="adj" fmla="val 9412"/>
            </a:avLst>
          </a:prstGeom>
          <a:solidFill>
            <a:srgbClr val="1F4035"/>
          </a:solidFill>
          <a:ln/>
        </p:spPr>
      </p:sp>
      <p:sp>
        <p:nvSpPr>
          <p:cNvPr id="41" name="Text 39"/>
          <p:cNvSpPr/>
          <p:nvPr/>
        </p:nvSpPr>
        <p:spPr>
          <a:xfrm>
            <a:off x="1856232" y="4736592"/>
            <a:ext cx="8479231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9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核心理念：AI 干脏活累活，员工干决策活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094415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384048"/>
          </a:xfrm>
          <a:prstGeom prst="rect">
            <a:avLst/>
          </a:prstGeom>
          <a:solidFill>
            <a:srgbClr val="D9761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10212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给员工带来的 7 大优势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110212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EMPLOYEE VALUE · 让每个员工拥有资深顾问的效率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12700">
            <a:solidFill>
              <a:srgbClr val="E5DF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668448" cy="244602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2668448" cy="73152"/>
          </a:xfrm>
          <a:prstGeom prst="roundRect">
            <a:avLst>
              <a:gd name="adj" fmla="val 75000"/>
            </a:avLst>
          </a:prstGeom>
          <a:solidFill>
            <a:srgbClr val="2E635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417320"/>
            <a:ext cx="420624" cy="420624"/>
          </a:xfrm>
          <a:prstGeom prst="ellipse">
            <a:avLst/>
          </a:prstGeom>
          <a:solidFill>
            <a:srgbClr val="2E6350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444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1417320"/>
            <a:ext cx="175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职位秒懂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965960"/>
            <a:ext cx="2211248" cy="153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杂乱 Excel → 结构化字段，20 分钟 → 30 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26816" y="1234440"/>
            <a:ext cx="2668448" cy="244602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26816" y="1234440"/>
            <a:ext cx="2668448" cy="73152"/>
          </a:xfrm>
          <a:prstGeom prst="roundRect">
            <a:avLst>
              <a:gd name="adj" fmla="val 75000"/>
            </a:avLst>
          </a:prstGeom>
          <a:solidFill>
            <a:srgbClr val="2E6350"/>
          </a:solidFill>
          <a:ln/>
        </p:spPr>
      </p:sp>
      <p:sp>
        <p:nvSpPr>
          <p:cNvPr id="14" name="Shape 12"/>
          <p:cNvSpPr/>
          <p:nvPr/>
        </p:nvSpPr>
        <p:spPr>
          <a:xfrm>
            <a:off x="3509696" y="1417320"/>
            <a:ext cx="420624" cy="420624"/>
          </a:xfrm>
          <a:prstGeom prst="ellipse">
            <a:avLst/>
          </a:prstGeom>
          <a:solidFill>
            <a:srgbClr val="2E6350"/>
          </a:solidFill>
          <a:ln/>
        </p:spPr>
      </p:sp>
      <p:sp>
        <p:nvSpPr>
          <p:cNvPr id="15" name="Text 13"/>
          <p:cNvSpPr/>
          <p:nvPr/>
        </p:nvSpPr>
        <p:spPr>
          <a:xfrm>
            <a:off x="3537128" y="1444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58336" y="1417320"/>
            <a:ext cx="175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简历破冰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55416" y="1965960"/>
            <a:ext cx="2211248" cy="153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类共同点 + 8 类风险识别，破冰 +50%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96432" y="1234440"/>
            <a:ext cx="2668448" cy="244602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6432" y="1234440"/>
            <a:ext cx="2668448" cy="73152"/>
          </a:xfrm>
          <a:prstGeom prst="roundRect">
            <a:avLst>
              <a:gd name="adj" fmla="val 75000"/>
            </a:avLst>
          </a:prstGeom>
          <a:solidFill>
            <a:srgbClr val="2E6350"/>
          </a:solidFill>
          <a:ln/>
        </p:spPr>
      </p:sp>
      <p:sp>
        <p:nvSpPr>
          <p:cNvPr id="20" name="Shape 18"/>
          <p:cNvSpPr/>
          <p:nvPr/>
        </p:nvSpPr>
        <p:spPr>
          <a:xfrm>
            <a:off x="6379312" y="1417320"/>
            <a:ext cx="420624" cy="420624"/>
          </a:xfrm>
          <a:prstGeom prst="ellipse">
            <a:avLst/>
          </a:prstGeom>
          <a:solidFill>
            <a:srgbClr val="2E635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6744" y="1444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27952" y="1417320"/>
            <a:ext cx="175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条话术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25032" y="1965960"/>
            <a:ext cx="2211248" cy="153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渠道 × 6 场景，覆盖沟通全链路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66047" y="1234440"/>
            <a:ext cx="2668448" cy="244602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6047" y="1234440"/>
            <a:ext cx="2668448" cy="73152"/>
          </a:xfrm>
          <a:prstGeom prst="roundRect">
            <a:avLst>
              <a:gd name="adj" fmla="val 75000"/>
            </a:avLst>
          </a:prstGeom>
          <a:solidFill>
            <a:srgbClr val="2E6350"/>
          </a:solidFill>
          <a:ln/>
        </p:spPr>
      </p:sp>
      <p:sp>
        <p:nvSpPr>
          <p:cNvPr id="26" name="Shape 24"/>
          <p:cNvSpPr/>
          <p:nvPr/>
        </p:nvSpPr>
        <p:spPr>
          <a:xfrm>
            <a:off x="9248927" y="1417320"/>
            <a:ext cx="420624" cy="420624"/>
          </a:xfrm>
          <a:prstGeom prst="ellipse">
            <a:avLst/>
          </a:prstGeom>
          <a:solidFill>
            <a:srgbClr val="2E6350"/>
          </a:solidFill>
          <a:ln/>
        </p:spPr>
      </p:sp>
      <p:sp>
        <p:nvSpPr>
          <p:cNvPr id="27" name="Text 25"/>
          <p:cNvSpPr/>
          <p:nvPr/>
        </p:nvSpPr>
        <p:spPr>
          <a:xfrm>
            <a:off x="9276359" y="1444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97567" y="1417320"/>
            <a:ext cx="175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跟进不漏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94647" y="1965960"/>
            <a:ext cx="2211248" cy="153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一个线索推 5 个职位，单线索转化 5 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909060"/>
            <a:ext cx="2668448" cy="244602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909060"/>
            <a:ext cx="2668448" cy="73152"/>
          </a:xfrm>
          <a:prstGeom prst="roundRect">
            <a:avLst>
              <a:gd name="adj" fmla="val 75000"/>
            </a:avLst>
          </a:prstGeom>
          <a:solidFill>
            <a:srgbClr val="2E6350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" y="4091940"/>
            <a:ext cx="420624" cy="420624"/>
          </a:xfrm>
          <a:prstGeom prst="ellipse">
            <a:avLst/>
          </a:prstGeom>
          <a:solidFill>
            <a:srgbClr val="2E6350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" y="41193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88720" y="4091940"/>
            <a:ext cx="175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陪打仗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4640580"/>
            <a:ext cx="2211248" cy="153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作战卡片 + 深度分析，新人 1 月顶 6 月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26816" y="3909060"/>
            <a:ext cx="2668448" cy="244602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26816" y="3909060"/>
            <a:ext cx="2668448" cy="73152"/>
          </a:xfrm>
          <a:prstGeom prst="roundRect">
            <a:avLst>
              <a:gd name="adj" fmla="val 75000"/>
            </a:avLst>
          </a:prstGeom>
          <a:solidFill>
            <a:srgbClr val="2E6350"/>
          </a:solidFill>
          <a:ln/>
        </p:spPr>
      </p:sp>
      <p:sp>
        <p:nvSpPr>
          <p:cNvPr id="38" name="Shape 36"/>
          <p:cNvSpPr/>
          <p:nvPr/>
        </p:nvSpPr>
        <p:spPr>
          <a:xfrm>
            <a:off x="3509696" y="4091940"/>
            <a:ext cx="420624" cy="420624"/>
          </a:xfrm>
          <a:prstGeom prst="ellipse">
            <a:avLst/>
          </a:prstGeom>
          <a:solidFill>
            <a:srgbClr val="2E6350"/>
          </a:solidFill>
          <a:ln/>
        </p:spPr>
      </p:sp>
      <p:sp>
        <p:nvSpPr>
          <p:cNvPr id="39" name="Text 37"/>
          <p:cNvSpPr/>
          <p:nvPr/>
        </p:nvSpPr>
        <p:spPr>
          <a:xfrm>
            <a:off x="3537128" y="41193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058336" y="4091940"/>
            <a:ext cx="175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合规保障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555416" y="4640580"/>
            <a:ext cx="2211248" cy="153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 硬约束 7 条，封号风险 -90%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96432" y="3909060"/>
            <a:ext cx="2668448" cy="244602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96432" y="3909060"/>
            <a:ext cx="2668448" cy="73152"/>
          </a:xfrm>
          <a:prstGeom prst="roundRect">
            <a:avLst>
              <a:gd name="adj" fmla="val 75000"/>
            </a:avLst>
          </a:prstGeom>
          <a:solidFill>
            <a:srgbClr val="2E6350"/>
          </a:solidFill>
          <a:ln/>
        </p:spPr>
      </p:sp>
      <p:sp>
        <p:nvSpPr>
          <p:cNvPr id="44" name="Shape 42"/>
          <p:cNvSpPr/>
          <p:nvPr/>
        </p:nvSpPr>
        <p:spPr>
          <a:xfrm>
            <a:off x="6379312" y="4091940"/>
            <a:ext cx="420624" cy="420624"/>
          </a:xfrm>
          <a:prstGeom prst="ellipse">
            <a:avLst/>
          </a:prstGeom>
          <a:solidFill>
            <a:srgbClr val="2E6350"/>
          </a:solidFill>
          <a:ln/>
        </p:spPr>
      </p:sp>
      <p:sp>
        <p:nvSpPr>
          <p:cNvPr id="45" name="Text 43"/>
          <p:cNvSpPr/>
          <p:nvPr/>
        </p:nvSpPr>
        <p:spPr>
          <a:xfrm>
            <a:off x="6406744" y="41193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927952" y="4091940"/>
            <a:ext cx="175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 文案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425032" y="4640580"/>
            <a:ext cx="2211248" cy="153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套风格一键生成，咨询量 +2-3 倍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066047" y="3909060"/>
            <a:ext cx="2668448" cy="2446020"/>
          </a:xfrm>
          <a:prstGeom prst="roundRect">
            <a:avLst>
              <a:gd name="adj" fmla="val 2243"/>
            </a:avLst>
          </a:prstGeom>
          <a:solidFill>
            <a:srgbClr val="D9761B"/>
          </a:solidFill>
          <a:ln/>
        </p:spPr>
      </p:sp>
      <p:sp>
        <p:nvSpPr>
          <p:cNvPr id="49" name="Text 47"/>
          <p:cNvSpPr/>
          <p:nvPr/>
        </p:nvSpPr>
        <p:spPr>
          <a:xfrm>
            <a:off x="9093479" y="3936492"/>
            <a:ext cx="2613584" cy="2391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 50 倍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1094415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384048"/>
          </a:xfrm>
          <a:prstGeom prst="rect">
            <a:avLst/>
          </a:prstGeom>
          <a:solidFill>
            <a:srgbClr val="D9761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10212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渠道 × 6 场景 = 18 条个性化话术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110212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SCRIPT MATRIX · 每条为求职者量身定制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12700">
            <a:solidFill>
              <a:srgbClr val="E5DFD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3144" y="1508760"/>
          <a:ext cx="9143771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688336"/>
                <a:gridCol w="2688336"/>
                <a:gridCol w="2688336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 \ 渠道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微信文字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电话话术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站内信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3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触达开场白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职位介绍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疑虑应对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面试邀约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薪资沟通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Offer 促签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371600" y="5349240"/>
            <a:ext cx="9448495" cy="640080"/>
          </a:xfrm>
          <a:prstGeom prst="roundRect">
            <a:avLst>
              <a:gd name="adj" fmla="val 8571"/>
            </a:avLst>
          </a:prstGeom>
          <a:solidFill>
            <a:srgbClr val="FEF3E2"/>
          </a:solidFill>
          <a:ln/>
        </p:spPr>
      </p:sp>
      <p:sp>
        <p:nvSpPr>
          <p:cNvPr id="8" name="Text 5"/>
          <p:cNvSpPr/>
          <p:nvPr/>
        </p:nvSpPr>
        <p:spPr>
          <a:xfrm>
            <a:off x="1399032" y="5376672"/>
            <a:ext cx="9393631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每条话术为求职者量身定制，注入 BOSS 硬约束：不暴露甲方 / 不违反劳动法 / 符合平台规则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094415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384048"/>
          </a:xfrm>
          <a:prstGeom prst="rect">
            <a:avLst/>
          </a:prstGeom>
          <a:solidFill>
            <a:srgbClr val="D9761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10212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回访前作战卡片 + 回访后深度分析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110212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WEAPONS · 新人也能做出老手业绩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12700">
            <a:solidFill>
              <a:srgbClr val="E5DF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228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2288" y="1417320"/>
            <a:ext cx="5349240" cy="548640"/>
          </a:xfrm>
          <a:prstGeom prst="roundRect">
            <a:avLst>
              <a:gd name="adj" fmla="val 13333"/>
            </a:avLst>
          </a:prstGeom>
          <a:solidFill>
            <a:srgbClr val="2E6350"/>
          </a:solidFill>
          <a:ln/>
        </p:spPr>
      </p:sp>
      <p:sp>
        <p:nvSpPr>
          <p:cNvPr id="8" name="Text 6"/>
          <p:cNvSpPr/>
          <p:nvPr/>
        </p:nvSpPr>
        <p:spPr>
          <a:xfrm>
            <a:off x="499720" y="1444752"/>
            <a:ext cx="52943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回访前 · AI 作战卡片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048" y="2240280"/>
            <a:ext cx="4617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求职者画像速览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本次回访目标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预判求职者顾虑 3-5 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套开场话术可选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推荐提问引导真实想法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转化可能性预判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701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70168" y="1417320"/>
            <a:ext cx="5349240" cy="548640"/>
          </a:xfrm>
          <a:prstGeom prst="roundRect">
            <a:avLst>
              <a:gd name="adj" fmla="val 13333"/>
            </a:avLst>
          </a:prstGeom>
          <a:solidFill>
            <a:srgbClr val="D9761B"/>
          </a:solidFill>
          <a:ln/>
        </p:spPr>
      </p:sp>
      <p:sp>
        <p:nvSpPr>
          <p:cNvPr id="12" name="Text 10"/>
          <p:cNvSpPr/>
          <p:nvPr/>
        </p:nvSpPr>
        <p:spPr>
          <a:xfrm>
            <a:off x="6397600" y="1444752"/>
            <a:ext cx="52943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回访后 · AI 深度分析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35928" y="2240280"/>
            <a:ext cx="4617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b="1" dirty="0">
                <a:solidFill>
                  <a:srgbClr val="2E6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顾虑深度解析（每个顾虑根源）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b="1" dirty="0">
                <a:solidFill>
                  <a:srgbClr val="2E6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跟进策略建议 4-6 条（按优先级）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b="1" dirty="0">
                <a:solidFill>
                  <a:srgbClr val="2E6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转化可能性更新（升/降 + 原因）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b="1" dirty="0">
                <a:solidFill>
                  <a:srgbClr val="2E6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下次回访时间 + 重点 + 物料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b="1" dirty="0">
                <a:solidFill>
                  <a:srgbClr val="2E6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 3 渠道应对话术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094415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384048"/>
          </a:xfrm>
          <a:prstGeom prst="rect">
            <a:avLst/>
          </a:prstGeom>
          <a:solidFill>
            <a:srgbClr val="D9761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10212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给公司管理带来的 9 大优势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110212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MANAGEMENT VALUE · 从凭感觉管人到看数据管人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12700">
            <a:solidFill>
              <a:srgbClr val="E5DF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3576218" cy="158496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3576218" cy="73152"/>
          </a:xfrm>
          <a:prstGeom prst="roundRect">
            <a:avLst>
              <a:gd name="adj" fmla="val 75000"/>
            </a:avLst>
          </a:prstGeom>
          <a:solidFill>
            <a:srgbClr val="D9761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417320"/>
            <a:ext cx="420624" cy="420624"/>
          </a:xfrm>
          <a:prstGeom prst="ellipse">
            <a:avLst/>
          </a:prstGeom>
          <a:solidFill>
            <a:srgbClr val="D9761B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444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1417320"/>
            <a:ext cx="266181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撞单自动检测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965960"/>
            <a:ext cx="3119018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全团队哈希检测，撞单内耗 -95%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07738" y="1234440"/>
            <a:ext cx="3576218" cy="158496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7738" y="1234440"/>
            <a:ext cx="3576218" cy="73152"/>
          </a:xfrm>
          <a:prstGeom prst="roundRect">
            <a:avLst>
              <a:gd name="adj" fmla="val 75000"/>
            </a:avLst>
          </a:prstGeom>
          <a:solidFill>
            <a:srgbClr val="D9761B"/>
          </a:solidFill>
          <a:ln/>
        </p:spPr>
      </p:sp>
      <p:sp>
        <p:nvSpPr>
          <p:cNvPr id="14" name="Shape 12"/>
          <p:cNvSpPr/>
          <p:nvPr/>
        </p:nvSpPr>
        <p:spPr>
          <a:xfrm>
            <a:off x="4490618" y="1417320"/>
            <a:ext cx="420624" cy="420624"/>
          </a:xfrm>
          <a:prstGeom prst="ellipse">
            <a:avLst/>
          </a:prstGeom>
          <a:solidFill>
            <a:srgbClr val="D9761B"/>
          </a:solidFill>
          <a:ln/>
        </p:spPr>
      </p:sp>
      <p:sp>
        <p:nvSpPr>
          <p:cNvPr id="15" name="Text 13"/>
          <p:cNvSpPr/>
          <p:nvPr/>
        </p:nvSpPr>
        <p:spPr>
          <a:xfrm>
            <a:off x="4518050" y="1444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39258" y="1417320"/>
            <a:ext cx="266181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手机号脱敏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36338" y="1965960"/>
            <a:ext cx="3119018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138****5678，泄露风险 -80%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8277" y="1234440"/>
            <a:ext cx="3576218" cy="158496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1234440"/>
            <a:ext cx="3576218" cy="73152"/>
          </a:xfrm>
          <a:prstGeom prst="roundRect">
            <a:avLst>
              <a:gd name="adj" fmla="val 75000"/>
            </a:avLst>
          </a:prstGeom>
          <a:solidFill>
            <a:srgbClr val="D9761B"/>
          </a:solidFill>
          <a:ln/>
        </p:spPr>
      </p:sp>
      <p:sp>
        <p:nvSpPr>
          <p:cNvPr id="20" name="Shape 18"/>
          <p:cNvSpPr/>
          <p:nvPr/>
        </p:nvSpPr>
        <p:spPr>
          <a:xfrm>
            <a:off x="8341157" y="1417320"/>
            <a:ext cx="420624" cy="420624"/>
          </a:xfrm>
          <a:prstGeom prst="ellipse">
            <a:avLst/>
          </a:prstGeom>
          <a:solidFill>
            <a:srgbClr val="D9761B"/>
          </a:solidFill>
          <a:ln/>
        </p:spPr>
      </p:sp>
      <p:sp>
        <p:nvSpPr>
          <p:cNvPr id="21" name="Text 19"/>
          <p:cNvSpPr/>
          <p:nvPr/>
        </p:nvSpPr>
        <p:spPr>
          <a:xfrm>
            <a:off x="8368589" y="1444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889797" y="1417320"/>
            <a:ext cx="266181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权限分级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86877" y="1965960"/>
            <a:ext cx="3119018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数据隔离，权责清晰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002280"/>
            <a:ext cx="3576218" cy="158496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002280"/>
            <a:ext cx="3576218" cy="73152"/>
          </a:xfrm>
          <a:prstGeom prst="roundRect">
            <a:avLst>
              <a:gd name="adj" fmla="val 75000"/>
            </a:avLst>
          </a:prstGeom>
          <a:solidFill>
            <a:srgbClr val="D9761B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3185160"/>
            <a:ext cx="420624" cy="420624"/>
          </a:xfrm>
          <a:prstGeom prst="ellipse">
            <a:avLst/>
          </a:prstGeom>
          <a:solidFill>
            <a:srgbClr val="D9761B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" y="3212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88720" y="3185160"/>
            <a:ext cx="266181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操作审计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3733800"/>
            <a:ext cx="3119018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全程留痕，责任 100% 可追溯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07738" y="3002280"/>
            <a:ext cx="3576218" cy="158496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07738" y="3002280"/>
            <a:ext cx="3576218" cy="73152"/>
          </a:xfrm>
          <a:prstGeom prst="roundRect">
            <a:avLst>
              <a:gd name="adj" fmla="val 75000"/>
            </a:avLst>
          </a:prstGeom>
          <a:solidFill>
            <a:srgbClr val="D9761B"/>
          </a:solidFill>
          <a:ln/>
        </p:spPr>
      </p:sp>
      <p:sp>
        <p:nvSpPr>
          <p:cNvPr id="32" name="Shape 30"/>
          <p:cNvSpPr/>
          <p:nvPr/>
        </p:nvSpPr>
        <p:spPr>
          <a:xfrm>
            <a:off x="4490618" y="3185160"/>
            <a:ext cx="420624" cy="420624"/>
          </a:xfrm>
          <a:prstGeom prst="ellipse">
            <a:avLst/>
          </a:prstGeom>
          <a:solidFill>
            <a:srgbClr val="D9761B"/>
          </a:solidFill>
          <a:ln/>
        </p:spPr>
      </p:sp>
      <p:sp>
        <p:nvSpPr>
          <p:cNvPr id="33" name="Text 31"/>
          <p:cNvSpPr/>
          <p:nvPr/>
        </p:nvSpPr>
        <p:spPr>
          <a:xfrm>
            <a:off x="4518050" y="3212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039258" y="3185160"/>
            <a:ext cx="266181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客户集中管理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36338" y="3733800"/>
            <a:ext cx="3119018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客户资产公司化，不依赖个人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58277" y="3002280"/>
            <a:ext cx="3576218" cy="158496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58277" y="3002280"/>
            <a:ext cx="3576218" cy="73152"/>
          </a:xfrm>
          <a:prstGeom prst="roundRect">
            <a:avLst>
              <a:gd name="adj" fmla="val 75000"/>
            </a:avLst>
          </a:prstGeom>
          <a:solidFill>
            <a:srgbClr val="D9761B"/>
          </a:solidFill>
          <a:ln/>
        </p:spPr>
      </p:sp>
      <p:sp>
        <p:nvSpPr>
          <p:cNvPr id="38" name="Shape 36"/>
          <p:cNvSpPr/>
          <p:nvPr/>
        </p:nvSpPr>
        <p:spPr>
          <a:xfrm>
            <a:off x="8341157" y="3185160"/>
            <a:ext cx="420624" cy="420624"/>
          </a:xfrm>
          <a:prstGeom prst="ellipse">
            <a:avLst/>
          </a:prstGeom>
          <a:solidFill>
            <a:srgbClr val="D9761B"/>
          </a:solidFill>
          <a:ln/>
        </p:spPr>
      </p:sp>
      <p:sp>
        <p:nvSpPr>
          <p:cNvPr id="39" name="Text 37"/>
          <p:cNvSpPr/>
          <p:nvPr/>
        </p:nvSpPr>
        <p:spPr>
          <a:xfrm>
            <a:off x="8368589" y="3212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889797" y="3185160"/>
            <a:ext cx="266181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团队报表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386877" y="3733800"/>
            <a:ext cx="3119018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漏斗/绩效/客户，一键 Excel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770120"/>
            <a:ext cx="3576218" cy="158496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4770120"/>
            <a:ext cx="3576218" cy="73152"/>
          </a:xfrm>
          <a:prstGeom prst="roundRect">
            <a:avLst>
              <a:gd name="adj" fmla="val 75000"/>
            </a:avLst>
          </a:prstGeom>
          <a:solidFill>
            <a:srgbClr val="D9761B"/>
          </a:solidFill>
          <a:ln/>
        </p:spPr>
      </p:sp>
      <p:sp>
        <p:nvSpPr>
          <p:cNvPr id="44" name="Shape 42"/>
          <p:cNvSpPr/>
          <p:nvPr/>
        </p:nvSpPr>
        <p:spPr>
          <a:xfrm>
            <a:off x="640080" y="4953000"/>
            <a:ext cx="420624" cy="420624"/>
          </a:xfrm>
          <a:prstGeom prst="ellipse">
            <a:avLst/>
          </a:prstGeom>
          <a:solidFill>
            <a:srgbClr val="D9761B"/>
          </a:solidFill>
          <a:ln/>
        </p:spPr>
      </p:sp>
      <p:sp>
        <p:nvSpPr>
          <p:cNvPr id="45" name="Text 43"/>
          <p:cNvSpPr/>
          <p:nvPr/>
        </p:nvSpPr>
        <p:spPr>
          <a:xfrm>
            <a:off x="667512" y="4980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188720" y="4953000"/>
            <a:ext cx="266181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5800" y="5501640"/>
            <a:ext cx="3119018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被动救火 → 主动预防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307738" y="4770120"/>
            <a:ext cx="3576218" cy="158496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07738" y="4770120"/>
            <a:ext cx="3576218" cy="73152"/>
          </a:xfrm>
          <a:prstGeom prst="roundRect">
            <a:avLst>
              <a:gd name="adj" fmla="val 75000"/>
            </a:avLst>
          </a:prstGeom>
          <a:solidFill>
            <a:srgbClr val="D9761B"/>
          </a:solidFill>
          <a:ln/>
        </p:spPr>
      </p:sp>
      <p:sp>
        <p:nvSpPr>
          <p:cNvPr id="50" name="Shape 48"/>
          <p:cNvSpPr/>
          <p:nvPr/>
        </p:nvSpPr>
        <p:spPr>
          <a:xfrm>
            <a:off x="4490618" y="4953000"/>
            <a:ext cx="420624" cy="420624"/>
          </a:xfrm>
          <a:prstGeom prst="ellipse">
            <a:avLst/>
          </a:prstGeom>
          <a:solidFill>
            <a:srgbClr val="D9761B"/>
          </a:solidFill>
          <a:ln/>
        </p:spPr>
      </p:sp>
      <p:sp>
        <p:nvSpPr>
          <p:cNvPr id="51" name="Text 49"/>
          <p:cNvSpPr/>
          <p:nvPr/>
        </p:nvSpPr>
        <p:spPr>
          <a:xfrm>
            <a:off x="4518050" y="4980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5039258" y="4953000"/>
            <a:ext cx="266181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标准化运营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536338" y="5501640"/>
            <a:ext cx="3119018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沉淀公司资产，业绩稳定 3 倍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158277" y="4770120"/>
            <a:ext cx="3576218" cy="158496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58277" y="4770120"/>
            <a:ext cx="3576218" cy="73152"/>
          </a:xfrm>
          <a:prstGeom prst="roundRect">
            <a:avLst>
              <a:gd name="adj" fmla="val 75000"/>
            </a:avLst>
          </a:prstGeom>
          <a:solidFill>
            <a:srgbClr val="D9761B"/>
          </a:solidFill>
          <a:ln/>
        </p:spPr>
      </p:sp>
      <p:sp>
        <p:nvSpPr>
          <p:cNvPr id="56" name="Shape 54"/>
          <p:cNvSpPr/>
          <p:nvPr/>
        </p:nvSpPr>
        <p:spPr>
          <a:xfrm>
            <a:off x="8341157" y="4953000"/>
            <a:ext cx="420624" cy="420624"/>
          </a:xfrm>
          <a:prstGeom prst="ellipse">
            <a:avLst/>
          </a:prstGeom>
          <a:solidFill>
            <a:srgbClr val="D9761B"/>
          </a:solidFill>
          <a:ln/>
        </p:spPr>
      </p:sp>
      <p:sp>
        <p:nvSpPr>
          <p:cNvPr id="57" name="Text 55"/>
          <p:cNvSpPr/>
          <p:nvPr/>
        </p:nvSpPr>
        <p:spPr>
          <a:xfrm>
            <a:off x="8368589" y="4980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8889797" y="4953000"/>
            <a:ext cx="266181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 合规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8386877" y="5501640"/>
            <a:ext cx="3119018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 + 知识库，封号风险 -90%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1094415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384048"/>
          </a:xfrm>
          <a:prstGeom prst="rect">
            <a:avLst/>
          </a:prstGeom>
          <a:solidFill>
            <a:srgbClr val="D9761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10212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撞单自动检测 + 数据脱敏 = 杜绝内耗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110212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COLLISION &amp; SECURITY · 内耗 -95% / 泄露 -80%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12700">
            <a:solidFill>
              <a:srgbClr val="E5DF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2288" y="141732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2288" y="14173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2E6350"/>
          </a:solidFill>
          <a:ln/>
        </p:spPr>
      </p:sp>
      <p:sp>
        <p:nvSpPr>
          <p:cNvPr id="8" name="Text 6"/>
          <p:cNvSpPr/>
          <p:nvPr/>
        </p:nvSpPr>
        <p:spPr>
          <a:xfrm>
            <a:off x="499720" y="1444752"/>
            <a:ext cx="529437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撞单检测流程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6608" y="2148840"/>
            <a:ext cx="4800600" cy="502920"/>
          </a:xfrm>
          <a:prstGeom prst="roundRect">
            <a:avLst>
              <a:gd name="adj" fmla="val 9091"/>
            </a:avLst>
          </a:prstGeom>
          <a:solidFill>
            <a:srgbClr val="E8F0EC"/>
          </a:solidFill>
          <a:ln/>
        </p:spPr>
      </p:sp>
      <p:sp>
        <p:nvSpPr>
          <p:cNvPr id="10" name="Text 8"/>
          <p:cNvSpPr/>
          <p:nvPr/>
        </p:nvSpPr>
        <p:spPr>
          <a:xfrm>
            <a:off x="838048" y="214884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员工录入简历</a:t>
            </a:r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  手机号哈希 + 邮箱 + 姓名+公司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6608" y="2606040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6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6608" y="2788920"/>
            <a:ext cx="4800600" cy="502920"/>
          </a:xfrm>
          <a:prstGeom prst="roundRect">
            <a:avLst>
              <a:gd name="adj" fmla="val 9091"/>
            </a:avLst>
          </a:prstGeom>
          <a:solidFill>
            <a:srgbClr val="E8F0EC"/>
          </a:solidFill>
          <a:ln/>
        </p:spPr>
      </p:sp>
      <p:sp>
        <p:nvSpPr>
          <p:cNvPr id="13" name="Text 11"/>
          <p:cNvSpPr/>
          <p:nvPr/>
        </p:nvSpPr>
        <p:spPr>
          <a:xfrm>
            <a:off x="838048" y="278892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系统自动检测</a:t>
            </a:r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  全团队撞单比对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6608" y="3246120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6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6608" y="3429000"/>
            <a:ext cx="4800600" cy="502920"/>
          </a:xfrm>
          <a:prstGeom prst="roundRect">
            <a:avLst>
              <a:gd name="adj" fmla="val 9091"/>
            </a:avLst>
          </a:prstGeom>
          <a:solidFill>
            <a:srgbClr val="E8F0EC"/>
          </a:solidFill>
          <a:ln/>
        </p:spPr>
      </p:sp>
      <p:sp>
        <p:nvSpPr>
          <p:cNvPr id="16" name="Text 14"/>
          <p:cNvSpPr/>
          <p:nvPr/>
        </p:nvSpPr>
        <p:spPr>
          <a:xfrm>
            <a:off x="838048" y="342900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提示员工 + 通知管理员</a:t>
            </a:r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  撞单管理页处理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6608" y="4160520"/>
            <a:ext cx="4800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种处理方式：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6608" y="4416552"/>
            <a:ext cx="4800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 A  /  归属 B  /  共享独立跟进  /  标记误报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6608" y="4800600"/>
            <a:ext cx="4800600" cy="457200"/>
          </a:xfrm>
          <a:prstGeom prst="roundRect">
            <a:avLst>
              <a:gd name="adj" fmla="val 8000"/>
            </a:avLst>
          </a:prstGeom>
          <a:solidFill>
            <a:srgbClr val="2E6350"/>
          </a:solidFill>
          <a:ln/>
        </p:spPr>
      </p:sp>
      <p:sp>
        <p:nvSpPr>
          <p:cNvPr id="20" name="Text 18"/>
          <p:cNvSpPr/>
          <p:nvPr/>
        </p:nvSpPr>
        <p:spPr>
          <a:xfrm>
            <a:off x="774040" y="4828032"/>
            <a:ext cx="4745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效果：撞单内耗 -95%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70168" y="141732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0168" y="14173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D9761B"/>
          </a:solidFill>
          <a:ln/>
        </p:spPr>
      </p:sp>
      <p:sp>
        <p:nvSpPr>
          <p:cNvPr id="23" name="Text 21"/>
          <p:cNvSpPr/>
          <p:nvPr/>
        </p:nvSpPr>
        <p:spPr>
          <a:xfrm>
            <a:off x="6397600" y="1444752"/>
            <a:ext cx="529437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数据安全保障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44488" y="2148840"/>
            <a:ext cx="4800600" cy="457200"/>
          </a:xfrm>
          <a:prstGeom prst="roundRect">
            <a:avLst>
              <a:gd name="adj" fmla="val 10000"/>
            </a:avLst>
          </a:prstGeom>
          <a:solidFill>
            <a:srgbClr val="FEF3E2"/>
          </a:solidFill>
          <a:ln/>
        </p:spPr>
      </p:sp>
      <p:sp>
        <p:nvSpPr>
          <p:cNvPr id="25" name="Text 23"/>
          <p:cNvSpPr/>
          <p:nvPr/>
        </p:nvSpPr>
        <p:spPr>
          <a:xfrm>
            <a:off x="6735928" y="21488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手机号脱敏</a:t>
            </a:r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  138****5678，员工看不到完整号码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44488" y="2697480"/>
            <a:ext cx="4800600" cy="457200"/>
          </a:xfrm>
          <a:prstGeom prst="roundRect">
            <a:avLst>
              <a:gd name="adj" fmla="val 10000"/>
            </a:avLst>
          </a:prstGeom>
          <a:solidFill>
            <a:srgbClr val="FEF3E2"/>
          </a:solidFill>
          <a:ln/>
        </p:spPr>
      </p:sp>
      <p:sp>
        <p:nvSpPr>
          <p:cNvPr id="27" name="Text 25"/>
          <p:cNvSpPr/>
          <p:nvPr/>
        </p:nvSpPr>
        <p:spPr>
          <a:xfrm>
            <a:off x="6735928" y="26974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SHA256 哈希</a:t>
            </a:r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  做撞单检测，不存储明文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44488" y="3246120"/>
            <a:ext cx="4800600" cy="457200"/>
          </a:xfrm>
          <a:prstGeom prst="roundRect">
            <a:avLst>
              <a:gd name="adj" fmla="val 10000"/>
            </a:avLst>
          </a:prstGeom>
          <a:solidFill>
            <a:srgbClr val="FEF3E2"/>
          </a:solidFill>
          <a:ln/>
        </p:spPr>
      </p:sp>
      <p:sp>
        <p:nvSpPr>
          <p:cNvPr id="29" name="Text 27"/>
          <p:cNvSpPr/>
          <p:nvPr/>
        </p:nvSpPr>
        <p:spPr>
          <a:xfrm>
            <a:off x="6735928" y="32461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软删除 + 回收站</a:t>
            </a:r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  30 天可恢复，防误删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44488" y="3794760"/>
            <a:ext cx="4800600" cy="457200"/>
          </a:xfrm>
          <a:prstGeom prst="roundRect">
            <a:avLst>
              <a:gd name="adj" fmla="val 10000"/>
            </a:avLst>
          </a:prstGeom>
          <a:solidFill>
            <a:srgbClr val="FEF3E2"/>
          </a:solidFill>
          <a:ln/>
        </p:spPr>
      </p:sp>
      <p:sp>
        <p:nvSpPr>
          <p:cNvPr id="31" name="Text 29"/>
          <p:cNvSpPr/>
          <p:nvPr/>
        </p:nvSpPr>
        <p:spPr>
          <a:xfrm>
            <a:off x="6735928" y="37947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操作日志全程留痕</a:t>
            </a:r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  敏感操作单独审计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44488" y="4892040"/>
            <a:ext cx="4800600" cy="457200"/>
          </a:xfrm>
          <a:prstGeom prst="roundRect">
            <a:avLst>
              <a:gd name="adj" fmla="val 8000"/>
            </a:avLst>
          </a:prstGeom>
          <a:solidFill>
            <a:srgbClr val="D9761B"/>
          </a:solidFill>
          <a:ln/>
        </p:spPr>
      </p:sp>
      <p:sp>
        <p:nvSpPr>
          <p:cNvPr id="33" name="Text 31"/>
          <p:cNvSpPr/>
          <p:nvPr/>
        </p:nvSpPr>
        <p:spPr>
          <a:xfrm>
            <a:off x="6671920" y="4919472"/>
            <a:ext cx="4745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效果：数据泄露风险 -80%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094415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384048"/>
          </a:xfrm>
          <a:prstGeom prst="rect">
            <a:avLst/>
          </a:prstGeom>
          <a:solidFill>
            <a:srgbClr val="D9761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10212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员工绩效管理 8 大能力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110212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PERFORMANCE MANAGEMENT · 从月底加班到实时一键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12700">
            <a:solidFill>
              <a:srgbClr val="E5DF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668448" cy="244602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2668448" cy="73152"/>
          </a:xfrm>
          <a:prstGeom prst="roundRect">
            <a:avLst>
              <a:gd name="adj" fmla="val 75000"/>
            </a:avLst>
          </a:prstGeom>
          <a:solidFill>
            <a:srgbClr val="2E635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417320"/>
            <a:ext cx="420624" cy="420624"/>
          </a:xfrm>
          <a:prstGeom prst="ellipse">
            <a:avLst/>
          </a:prstGeom>
          <a:solidFill>
            <a:srgbClr val="2E6350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444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1417320"/>
            <a:ext cx="175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多维指标自动统计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965960"/>
            <a:ext cx="2211248" cy="153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个指标实时计算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26816" y="1234440"/>
            <a:ext cx="2668448" cy="244602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26816" y="1234440"/>
            <a:ext cx="2668448" cy="73152"/>
          </a:xfrm>
          <a:prstGeom prst="roundRect">
            <a:avLst>
              <a:gd name="adj" fmla="val 75000"/>
            </a:avLst>
          </a:prstGeom>
          <a:solidFill>
            <a:srgbClr val="D9761B"/>
          </a:solidFill>
          <a:ln/>
        </p:spPr>
      </p:sp>
      <p:sp>
        <p:nvSpPr>
          <p:cNvPr id="14" name="Shape 12"/>
          <p:cNvSpPr/>
          <p:nvPr/>
        </p:nvSpPr>
        <p:spPr>
          <a:xfrm>
            <a:off x="3509696" y="1417320"/>
            <a:ext cx="420624" cy="420624"/>
          </a:xfrm>
          <a:prstGeom prst="ellipse">
            <a:avLst/>
          </a:prstGeom>
          <a:solidFill>
            <a:srgbClr val="D9761B"/>
          </a:solidFill>
          <a:ln/>
        </p:spPr>
      </p:sp>
      <p:sp>
        <p:nvSpPr>
          <p:cNvPr id="15" name="Text 13"/>
          <p:cNvSpPr/>
          <p:nvPr/>
        </p:nvSpPr>
        <p:spPr>
          <a:xfrm>
            <a:off x="3537128" y="1444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58336" y="1417320"/>
            <a:ext cx="175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员工排行榜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55416" y="1965960"/>
            <a:ext cx="2211248" cy="153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激发良性竞争 +30%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96432" y="1234440"/>
            <a:ext cx="2668448" cy="244602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6432" y="1234440"/>
            <a:ext cx="2668448" cy="73152"/>
          </a:xfrm>
          <a:prstGeom prst="roundRect">
            <a:avLst>
              <a:gd name="adj" fmla="val 75000"/>
            </a:avLst>
          </a:prstGeom>
          <a:solidFill>
            <a:srgbClr val="2E6350"/>
          </a:solidFill>
          <a:ln/>
        </p:spPr>
      </p:sp>
      <p:sp>
        <p:nvSpPr>
          <p:cNvPr id="20" name="Shape 18"/>
          <p:cNvSpPr/>
          <p:nvPr/>
        </p:nvSpPr>
        <p:spPr>
          <a:xfrm>
            <a:off x="6379312" y="1417320"/>
            <a:ext cx="420624" cy="420624"/>
          </a:xfrm>
          <a:prstGeom prst="ellipse">
            <a:avLst/>
          </a:prstGeom>
          <a:solidFill>
            <a:srgbClr val="2E635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6744" y="1444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27952" y="1417320"/>
            <a:ext cx="175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个人能力诊断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25032" y="1965960"/>
            <a:ext cx="2211248" cy="153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精准辅导，成长 +2 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66047" y="1234440"/>
            <a:ext cx="2668448" cy="244602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6047" y="1234440"/>
            <a:ext cx="2668448" cy="73152"/>
          </a:xfrm>
          <a:prstGeom prst="roundRect">
            <a:avLst>
              <a:gd name="adj" fmla="val 75000"/>
            </a:avLst>
          </a:prstGeom>
          <a:solidFill>
            <a:srgbClr val="D9761B"/>
          </a:solidFill>
          <a:ln/>
        </p:spPr>
      </p:sp>
      <p:sp>
        <p:nvSpPr>
          <p:cNvPr id="26" name="Shape 24"/>
          <p:cNvSpPr/>
          <p:nvPr/>
        </p:nvSpPr>
        <p:spPr>
          <a:xfrm>
            <a:off x="9248927" y="1417320"/>
            <a:ext cx="420624" cy="420624"/>
          </a:xfrm>
          <a:prstGeom prst="ellipse">
            <a:avLst/>
          </a:prstGeom>
          <a:solidFill>
            <a:srgbClr val="D9761B"/>
          </a:solidFill>
          <a:ln/>
        </p:spPr>
      </p:sp>
      <p:sp>
        <p:nvSpPr>
          <p:cNvPr id="27" name="Text 25"/>
          <p:cNvSpPr/>
          <p:nvPr/>
        </p:nvSpPr>
        <p:spPr>
          <a:xfrm>
            <a:off x="9276359" y="1444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97567" y="1417320"/>
            <a:ext cx="175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业绩趋势预警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94647" y="1965960"/>
            <a:ext cx="2211248" cy="153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异常提前 2 周发现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909060"/>
            <a:ext cx="2668448" cy="244602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909060"/>
            <a:ext cx="2668448" cy="73152"/>
          </a:xfrm>
          <a:prstGeom prst="roundRect">
            <a:avLst>
              <a:gd name="adj" fmla="val 75000"/>
            </a:avLst>
          </a:prstGeom>
          <a:solidFill>
            <a:srgbClr val="2E6350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" y="4091940"/>
            <a:ext cx="420624" cy="420624"/>
          </a:xfrm>
          <a:prstGeom prst="ellipse">
            <a:avLst/>
          </a:prstGeom>
          <a:solidFill>
            <a:srgbClr val="2E6350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" y="41193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88720" y="4091940"/>
            <a:ext cx="175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客户公司维度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4640580"/>
            <a:ext cx="2211248" cy="153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责任到人，满意度 +40%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26816" y="3909060"/>
            <a:ext cx="2668448" cy="244602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26816" y="3909060"/>
            <a:ext cx="2668448" cy="73152"/>
          </a:xfrm>
          <a:prstGeom prst="roundRect">
            <a:avLst>
              <a:gd name="adj" fmla="val 75000"/>
            </a:avLst>
          </a:prstGeom>
          <a:solidFill>
            <a:srgbClr val="D9761B"/>
          </a:solidFill>
          <a:ln/>
        </p:spPr>
      </p:sp>
      <p:sp>
        <p:nvSpPr>
          <p:cNvPr id="38" name="Shape 36"/>
          <p:cNvSpPr/>
          <p:nvPr/>
        </p:nvSpPr>
        <p:spPr>
          <a:xfrm>
            <a:off x="3509696" y="4091940"/>
            <a:ext cx="420624" cy="420624"/>
          </a:xfrm>
          <a:prstGeom prst="ellipse">
            <a:avLst/>
          </a:prstGeom>
          <a:solidFill>
            <a:srgbClr val="D9761B"/>
          </a:solidFill>
          <a:ln/>
        </p:spPr>
      </p:sp>
      <p:sp>
        <p:nvSpPr>
          <p:cNvPr id="39" name="Text 37"/>
          <p:cNvSpPr/>
          <p:nvPr/>
        </p:nvSpPr>
        <p:spPr>
          <a:xfrm>
            <a:off x="3537128" y="41193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058336" y="4091940"/>
            <a:ext cx="175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报表导出推送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555416" y="4640580"/>
            <a:ext cx="2211248" cy="153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 Excel + 邮件周报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96432" y="3909060"/>
            <a:ext cx="2668448" cy="244602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96432" y="3909060"/>
            <a:ext cx="2668448" cy="73152"/>
          </a:xfrm>
          <a:prstGeom prst="roundRect">
            <a:avLst>
              <a:gd name="adj" fmla="val 75000"/>
            </a:avLst>
          </a:prstGeom>
          <a:solidFill>
            <a:srgbClr val="2E6350"/>
          </a:solidFill>
          <a:ln/>
        </p:spPr>
      </p:sp>
      <p:sp>
        <p:nvSpPr>
          <p:cNvPr id="44" name="Shape 42"/>
          <p:cNvSpPr/>
          <p:nvPr/>
        </p:nvSpPr>
        <p:spPr>
          <a:xfrm>
            <a:off x="6379312" y="4091940"/>
            <a:ext cx="420624" cy="420624"/>
          </a:xfrm>
          <a:prstGeom prst="ellipse">
            <a:avLst/>
          </a:prstGeom>
          <a:solidFill>
            <a:srgbClr val="2E6350"/>
          </a:solidFill>
          <a:ln/>
        </p:spPr>
      </p:sp>
      <p:sp>
        <p:nvSpPr>
          <p:cNvPr id="45" name="Text 43"/>
          <p:cNvSpPr/>
          <p:nvPr/>
        </p:nvSpPr>
        <p:spPr>
          <a:xfrm>
            <a:off x="6406744" y="41193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927952" y="4091940"/>
            <a:ext cx="175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数据驱动人事决策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425032" y="4640580"/>
            <a:ext cx="2211248" cy="153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晋升/培训/淘汰有据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066047" y="3909060"/>
            <a:ext cx="2668448" cy="244602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66047" y="3909060"/>
            <a:ext cx="2668448" cy="73152"/>
          </a:xfrm>
          <a:prstGeom prst="roundRect">
            <a:avLst>
              <a:gd name="adj" fmla="val 75000"/>
            </a:avLst>
          </a:prstGeom>
          <a:solidFill>
            <a:srgbClr val="D9761B"/>
          </a:solidFill>
          <a:ln/>
        </p:spPr>
      </p:sp>
      <p:sp>
        <p:nvSpPr>
          <p:cNvPr id="50" name="Shape 48"/>
          <p:cNvSpPr/>
          <p:nvPr/>
        </p:nvSpPr>
        <p:spPr>
          <a:xfrm>
            <a:off x="9248927" y="4091940"/>
            <a:ext cx="420624" cy="420624"/>
          </a:xfrm>
          <a:prstGeom prst="ellipse">
            <a:avLst/>
          </a:prstGeom>
          <a:solidFill>
            <a:srgbClr val="D9761B"/>
          </a:solidFill>
          <a:ln/>
        </p:spPr>
      </p:sp>
      <p:sp>
        <p:nvSpPr>
          <p:cNvPr id="51" name="Text 49"/>
          <p:cNvSpPr/>
          <p:nvPr/>
        </p:nvSpPr>
        <p:spPr>
          <a:xfrm>
            <a:off x="9276359" y="41193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9797567" y="4091940"/>
            <a:ext cx="175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团队协作透明化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294647" y="4640580"/>
            <a:ext cx="2211248" cy="153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协作效率 +40%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1094415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384048"/>
          </a:xfrm>
          <a:prstGeom prst="rect">
            <a:avLst/>
          </a:prstGeom>
          <a:solidFill>
            <a:srgbClr val="D9761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10212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个绩效指标自动统计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110212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· 实时一键查看 · 从月底加班 2 天到一键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12700">
            <a:solidFill>
              <a:srgbClr val="E5DFD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9143771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61969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衡量用途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3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简历录入数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线索开拓能力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匹配创建数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匹配主动性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邀面数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初筛能力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面过数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岗位匹配精度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Offer 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谈薪促签能力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入职数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核心业绩指标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转化率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整体效率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平均周期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推进效率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回访次数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跟进勤奋度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话术使用量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工具使用度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08076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「入职数」为核心业绩指标，其余 9 项为过程指标，全部自动统计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094415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384048"/>
          </a:xfrm>
          <a:prstGeom prst="rect">
            <a:avLst/>
          </a:prstGeom>
          <a:solidFill>
            <a:srgbClr val="D9761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10212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自动诊断员工薄弱环节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110212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 · 数据来源 + 辅导建议 · 成长速度 +2 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12700">
            <a:solidFill>
              <a:srgbClr val="E5DFD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9143771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474720"/>
                <a:gridCol w="4602175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诊断维度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数据来源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辅导建议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3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简历录入少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简历数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加强线索开拓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匹配多邀面少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匹配数 vs 邀面数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提升话术质量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邀面多面过少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邀面数 vs 面过数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优化岗位匹配精度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面过多 Offer 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面过数 vs Offer 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加强谈薪技巧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Offer 多入职少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Offer 数 vs 入职数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强化 Offer 促签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回访次数少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回访记录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加强持续跟进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转化周期长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平均周期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提升推进效率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828800" y="5943600"/>
            <a:ext cx="8534095" cy="365760"/>
          </a:xfrm>
          <a:prstGeom prst="roundRect">
            <a:avLst>
              <a:gd name="adj" fmla="val 12500"/>
            </a:avLst>
          </a:prstGeom>
          <a:solidFill>
            <a:srgbClr val="E8F0EC"/>
          </a:solidFill>
          <a:ln/>
        </p:spPr>
      </p:sp>
      <p:sp>
        <p:nvSpPr>
          <p:cNvPr id="8" name="Text 5"/>
          <p:cNvSpPr/>
          <p:nvPr/>
        </p:nvSpPr>
        <p:spPr>
          <a:xfrm>
            <a:off x="1856232" y="5971032"/>
            <a:ext cx="8479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管理员根据诊断结果定向辅导，员工成长速度提升 2 倍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094415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384048"/>
          </a:xfrm>
          <a:prstGeom prst="rect">
            <a:avLst/>
          </a:prstGeom>
          <a:solidFill>
            <a:srgbClr val="D9761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10212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员工视角：效率提升 50 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110212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COMPARISON · EMPLOYEE · 从 6 个月成熟到 1 个月成熟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12700">
            <a:solidFill>
              <a:srgbClr val="E5DFD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9143771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  <a:gridCol w="3200400"/>
                <a:gridCol w="2681935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3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职位理解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 分钟翻表格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 秒看清结构化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 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话术撰写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 分钟手写 1 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 秒生成 18 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 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破冰成功率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凭运气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共同点加持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+50%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回复率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10-20%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30-50%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+100%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线索利用率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20%（聊完就忘）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80%（持续跟进）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单线索转化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个职位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个职位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学习曲线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个月成熟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个月成熟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封号风险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-90%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094415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384048"/>
          </a:xfrm>
          <a:prstGeom prst="rect">
            <a:avLst/>
          </a:prstGeom>
          <a:solidFill>
            <a:srgbClr val="D9761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10212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管理视角：管理效率提升 100 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110212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COMPARISON · MANAGEMENT · 从依赖销冠到系统化运营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12700">
            <a:solidFill>
              <a:srgbClr val="E5DFD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9143771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  <a:gridCol w="3200400"/>
                <a:gridCol w="2681935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3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撞单内耗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自动检测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-95%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数据安全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脱敏 + 审计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-80%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绩效统计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月底加班 2 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实时一键看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客户管理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散落个人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公司化集中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风险预警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被动救火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主动预防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团队报表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手动 Excel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自动生成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新人培养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个月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个月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0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业绩稳定性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依赖销冠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63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6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094415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384048"/>
          </a:xfrm>
          <a:prstGeom prst="rect">
            <a:avLst/>
          </a:prstGeom>
          <a:solidFill>
            <a:srgbClr val="D9761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10212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员工的一天：从绝望到高效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110212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DAY IN LIFE · 传统 vs 本工具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12700">
            <a:solidFill>
              <a:srgbClr val="E5DF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2288" y="141732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3F1EC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2288" y="14173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6B6B6B"/>
          </a:solidFill>
          <a:ln/>
        </p:spPr>
      </p:sp>
      <p:sp>
        <p:nvSpPr>
          <p:cNvPr id="8" name="Text 6"/>
          <p:cNvSpPr/>
          <p:nvPr/>
        </p:nvSpPr>
        <p:spPr>
          <a:xfrm>
            <a:off x="499720" y="1444752"/>
            <a:ext cx="529437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传统方式 · 一天入职 0 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0888" y="20574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9:00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78128" y="20574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翻客户职位表格，看不懂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0888" y="27157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78128" y="271576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手写 3 份求职者触达话术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0888" y="337413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11:00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78128" y="337413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微信群发，回复率低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0888" y="40325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14:00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78128" y="403250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打电话临场发挥，谈崩 2 个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0888" y="469087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78128" y="469087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求职者说"再考虑"，没下文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0888" y="534924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18:00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78128" y="53492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一天入职 0 人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70168" y="141732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E8F0EC"/>
          </a:solidFill>
          <a:ln w="12700">
            <a:solidFill>
              <a:srgbClr val="4A8B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0168" y="14173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2E6350"/>
          </a:solidFill>
          <a:ln/>
        </p:spPr>
      </p:sp>
      <p:sp>
        <p:nvSpPr>
          <p:cNvPr id="23" name="Text 21"/>
          <p:cNvSpPr/>
          <p:nvPr/>
        </p:nvSpPr>
        <p:spPr>
          <a:xfrm>
            <a:off x="6397600" y="1444752"/>
            <a:ext cx="529437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本工具 · 一天入职 1 人，3 人面试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98768" y="20574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6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9:00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76008" y="20574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看今日待回访 3 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98768" y="255117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6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9:15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76008" y="255117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AI 作战卡片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98768" y="304495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6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9:30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76008" y="304495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 AI 话术，3 分钟触达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98768" y="353872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6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10:00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76008" y="353872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求职者回复，AI 生成应对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98768" y="40325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6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11:00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76008" y="403250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回访昨天咨询的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98768" y="4526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6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14:00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76008" y="45262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电话沟通，AI 预判顾虑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98768" y="502005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6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16:00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76008" y="502005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 3 天后回访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98768" y="551383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6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18:00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376008" y="551383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一天入职 1 人，3 人面试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094415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384048"/>
          </a:xfrm>
          <a:prstGeom prst="rect">
            <a:avLst/>
          </a:prstGeom>
          <a:solidFill>
            <a:srgbClr val="D9761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10212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人团队月增 ¥59.7 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110212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ANALYSIS · 保守估算，实际效果因团队而异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12700">
            <a:solidFill>
              <a:srgbClr val="E5DF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2288" y="141732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2288" y="14173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6B6B6B"/>
          </a:solidFill>
          <a:ln/>
        </p:spPr>
      </p:sp>
      <p:sp>
        <p:nvSpPr>
          <p:cNvPr id="8" name="Text 6"/>
          <p:cNvSpPr/>
          <p:nvPr/>
        </p:nvSpPr>
        <p:spPr>
          <a:xfrm>
            <a:off x="499720" y="1444752"/>
            <a:ext cx="529437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6608" y="2103120"/>
            <a:ext cx="4800600" cy="640080"/>
          </a:xfrm>
          <a:prstGeom prst="roundRect">
            <a:avLst>
              <a:gd name="adj" fmla="val 7143"/>
            </a:avLst>
          </a:prstGeom>
          <a:solidFill>
            <a:srgbClr val="F3F1EC"/>
          </a:solidFill>
          <a:ln/>
        </p:spPr>
      </p:sp>
      <p:sp>
        <p:nvSpPr>
          <p:cNvPr id="10" name="Text 8"/>
          <p:cNvSpPr/>
          <p:nvPr/>
        </p:nvSpPr>
        <p:spPr>
          <a:xfrm>
            <a:off x="929488" y="214884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系统使用费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29488" y="242316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一次性部署 + 维护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6608" y="2880360"/>
            <a:ext cx="4800600" cy="640080"/>
          </a:xfrm>
          <a:prstGeom prst="roundRect">
            <a:avLst>
              <a:gd name="adj" fmla="val 7143"/>
            </a:avLst>
          </a:prstGeom>
          <a:solidFill>
            <a:srgbClr val="F3F1EC"/>
          </a:solidFill>
          <a:ln/>
        </p:spPr>
      </p:sp>
      <p:sp>
        <p:nvSpPr>
          <p:cNvPr id="13" name="Text 11"/>
          <p:cNvSpPr/>
          <p:nvPr/>
        </p:nvSpPr>
        <p:spPr>
          <a:xfrm>
            <a:off x="929488" y="29260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API 调用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9488" y="320040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¥0.5-2/天/人（约 40K token/天）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6608" y="3657600"/>
            <a:ext cx="4800600" cy="640080"/>
          </a:xfrm>
          <a:prstGeom prst="roundRect">
            <a:avLst>
              <a:gd name="adj" fmla="val 7143"/>
            </a:avLst>
          </a:prstGeom>
          <a:solidFill>
            <a:srgbClr val="F3F1EC"/>
          </a:solidFill>
          <a:ln/>
        </p:spPr>
      </p:sp>
      <p:sp>
        <p:nvSpPr>
          <p:cNvPr id="16" name="Text 14"/>
          <p:cNvSpPr/>
          <p:nvPr/>
        </p:nvSpPr>
        <p:spPr>
          <a:xfrm>
            <a:off x="929488" y="37033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培训成本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29488" y="397764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小时上手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70168" y="141732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E692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70168" y="14173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D9761B"/>
          </a:solidFill>
          <a:ln/>
        </p:spPr>
      </p:sp>
      <p:sp>
        <p:nvSpPr>
          <p:cNvPr id="20" name="Text 18"/>
          <p:cNvSpPr/>
          <p:nvPr/>
        </p:nvSpPr>
        <p:spPr>
          <a:xfrm>
            <a:off x="6397600" y="1444752"/>
            <a:ext cx="529437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产出（10 人团队测算）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44488" y="2103120"/>
            <a:ext cx="4800600" cy="457200"/>
          </a:xfrm>
          <a:prstGeom prst="roundRect">
            <a:avLst>
              <a:gd name="adj" fmla="val 10000"/>
            </a:avLst>
          </a:prstGeom>
          <a:solidFill>
            <a:srgbClr val="FEF3E2"/>
          </a:solidFill>
          <a:ln/>
        </p:spPr>
      </p:sp>
      <p:sp>
        <p:nvSpPr>
          <p:cNvPr id="22" name="Text 20"/>
          <p:cNvSpPr/>
          <p:nvPr/>
        </p:nvSpPr>
        <p:spPr>
          <a:xfrm>
            <a:off x="6827368" y="21031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月入职数</a:t>
            </a:r>
            <a:pPr algn="l" indent="0" marL="0">
              <a:buNone/>
            </a:pPr>
            <a:r>
              <a:rPr lang="en-US" sz="13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30 → 60（翻倍）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44488" y="2651760"/>
            <a:ext cx="4800600" cy="457200"/>
          </a:xfrm>
          <a:prstGeom prst="roundRect">
            <a:avLst>
              <a:gd name="adj" fmla="val 10000"/>
            </a:avLst>
          </a:prstGeom>
          <a:solidFill>
            <a:srgbClr val="FEF3E2"/>
          </a:solidFill>
          <a:ln/>
        </p:spPr>
      </p:sp>
      <p:sp>
        <p:nvSpPr>
          <p:cNvPr id="24" name="Text 22"/>
          <p:cNvSpPr/>
          <p:nvPr/>
        </p:nvSpPr>
        <p:spPr>
          <a:xfrm>
            <a:off x="6827368" y="26517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月营收</a:t>
            </a:r>
            <a:pPr algn="l" indent="0" marL="0">
              <a:buNone/>
            </a:pPr>
            <a:r>
              <a:rPr lang="en-US" sz="13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¥60 万 → ¥120 万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44488" y="3200400"/>
            <a:ext cx="4800600" cy="457200"/>
          </a:xfrm>
          <a:prstGeom prst="roundRect">
            <a:avLst>
              <a:gd name="adj" fmla="val 10000"/>
            </a:avLst>
          </a:prstGeom>
          <a:solidFill>
            <a:srgbClr val="FEF3E2"/>
          </a:solidFill>
          <a:ln/>
        </p:spPr>
      </p:sp>
      <p:sp>
        <p:nvSpPr>
          <p:cNvPr id="26" name="Text 24"/>
          <p:cNvSpPr/>
          <p:nvPr/>
        </p:nvSpPr>
        <p:spPr>
          <a:xfrm>
            <a:off x="6827368" y="320040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月增量</a:t>
            </a:r>
            <a:pPr algn="l" indent="0" marL="0">
              <a:buNone/>
            </a:pPr>
            <a:r>
              <a:rPr lang="en-US" sz="13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+¥60 万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44488" y="3749040"/>
            <a:ext cx="4800600" cy="457200"/>
          </a:xfrm>
          <a:prstGeom prst="roundRect">
            <a:avLst>
              <a:gd name="adj" fmla="val 10000"/>
            </a:avLst>
          </a:prstGeom>
          <a:solidFill>
            <a:srgbClr val="FEF3E2"/>
          </a:solidFill>
          <a:ln/>
        </p:spPr>
      </p:sp>
      <p:sp>
        <p:nvSpPr>
          <p:cNvPr id="28" name="Text 26"/>
          <p:cNvSpPr/>
          <p:nvPr/>
        </p:nvSpPr>
        <p:spPr>
          <a:xfrm>
            <a:off x="6827368" y="37490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成本</a:t>
            </a:r>
            <a:pPr algn="l" indent="0" marL="0">
              <a:buNone/>
            </a:pPr>
            <a:r>
              <a:rPr lang="en-US" sz="13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¥300/月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2288" y="489204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1F4035"/>
          </a:solidFill>
          <a:ln/>
        </p:spPr>
      </p:sp>
      <p:sp>
        <p:nvSpPr>
          <p:cNvPr id="30" name="Text 28"/>
          <p:cNvSpPr/>
          <p:nvPr/>
        </p:nvSpPr>
        <p:spPr>
          <a:xfrm>
            <a:off x="499720" y="4919472"/>
            <a:ext cx="111922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FB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净收益：</a:t>
            </a:r>
            <a:pPr algn="ctr" indent="0" marL="0">
              <a:buNone/>
            </a:pPr>
            <a:r>
              <a:rPr lang="en-US" sz="2800" b="1" dirty="0">
                <a:solidFill>
                  <a:srgbClr val="E69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+¥59.7 万/月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094415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384048"/>
          </a:xfrm>
          <a:prstGeom prst="rect">
            <a:avLst/>
          </a:prstGeom>
          <a:solidFill>
            <a:srgbClr val="D9761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10212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三层定位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110212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 · 给员工 / 给管理者 / 给公司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12700">
            <a:solidFill>
              <a:srgbClr val="E5DF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3545738" cy="4160520"/>
          </a:xfrm>
          <a:prstGeom prst="roundRect">
            <a:avLst>
              <a:gd name="adj" fmla="val 2063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3545738" cy="594360"/>
          </a:xfrm>
          <a:prstGeom prst="roundRect">
            <a:avLst>
              <a:gd name="adj" fmla="val 12308"/>
            </a:avLst>
          </a:prstGeom>
          <a:solidFill>
            <a:srgbClr val="2E6350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536192"/>
            <a:ext cx="3490874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给员工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6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299709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不是替代你，而是让你拥有 10 年资深顾问的脑子和效率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297680"/>
            <a:ext cx="2997098" cy="0"/>
          </a:xfrm>
          <a:prstGeom prst="line">
            <a:avLst/>
          </a:prstGeom>
          <a:noFill/>
          <a:ln w="12700">
            <a:solidFill>
              <a:srgbClr val="E5DF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434840"/>
            <a:ext cx="29970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干脏活累活（解析、生成、分析），你干决策活（审核、发送、跟进）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22978" y="1508760"/>
            <a:ext cx="3545738" cy="4160520"/>
          </a:xfrm>
          <a:prstGeom prst="roundRect">
            <a:avLst>
              <a:gd name="adj" fmla="val 2063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2978" y="1508760"/>
            <a:ext cx="3545738" cy="594360"/>
          </a:xfrm>
          <a:prstGeom prst="roundRect">
            <a:avLst>
              <a:gd name="adj" fmla="val 12308"/>
            </a:avLst>
          </a:prstGeom>
          <a:solidFill>
            <a:srgbClr val="D9761B"/>
          </a:solidFill>
          <a:ln/>
        </p:spPr>
      </p:sp>
      <p:sp>
        <p:nvSpPr>
          <p:cNvPr id="15" name="Text 13"/>
          <p:cNvSpPr/>
          <p:nvPr/>
        </p:nvSpPr>
        <p:spPr>
          <a:xfrm>
            <a:off x="4350410" y="1536192"/>
            <a:ext cx="3490874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给管理者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05858" y="2240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597298" y="2834640"/>
            <a:ext cx="299709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从"凭感觉管人"变成"看数据管人"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97298" y="4297680"/>
            <a:ext cx="2997098" cy="0"/>
          </a:xfrm>
          <a:prstGeom prst="line">
            <a:avLst/>
          </a:prstGeom>
          <a:noFill/>
          <a:ln w="12700">
            <a:solidFill>
              <a:srgbClr val="E5DF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7298" y="4434840"/>
            <a:ext cx="29970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撞单自动检测、绩效实时统计、风险主动预警、新人 1 个月成熟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88757" y="1508760"/>
            <a:ext cx="3545738" cy="4160520"/>
          </a:xfrm>
          <a:prstGeom prst="roundRect">
            <a:avLst>
              <a:gd name="adj" fmla="val 2063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88757" y="1508760"/>
            <a:ext cx="3545738" cy="594360"/>
          </a:xfrm>
          <a:prstGeom prst="roundRect">
            <a:avLst>
              <a:gd name="adj" fmla="val 12308"/>
            </a:avLst>
          </a:prstGeom>
          <a:solidFill>
            <a:srgbClr val="1F4035"/>
          </a:solidFill>
          <a:ln/>
        </p:spPr>
      </p:sp>
      <p:sp>
        <p:nvSpPr>
          <p:cNvPr id="22" name="Text 20"/>
          <p:cNvSpPr/>
          <p:nvPr/>
        </p:nvSpPr>
        <p:spPr>
          <a:xfrm>
            <a:off x="8216189" y="1536192"/>
            <a:ext cx="3490874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给公司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71637" y="2240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8463077" y="2834640"/>
            <a:ext cx="299709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业绩翻倍、成本减半、风险可控、可复制可扩张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463077" y="4297680"/>
            <a:ext cx="2997098" cy="0"/>
          </a:xfrm>
          <a:prstGeom prst="line">
            <a:avLst/>
          </a:prstGeom>
          <a:noFill/>
          <a:ln w="12700">
            <a:solidFill>
              <a:srgbClr val="E5DF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63077" y="4434840"/>
            <a:ext cx="29970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从依赖个人能力 → 依赖系统能力，从作坊式 → 标准化运营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094415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384048"/>
          </a:xfrm>
          <a:prstGeom prst="rect">
            <a:avLst/>
          </a:prstGeom>
          <a:solidFill>
            <a:srgbClr val="D9761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10212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立即开始使用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110212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STEPS · 3 步走 · 1 小时上手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12700">
            <a:solidFill>
              <a:srgbClr val="E5DF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448" y="173736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43888" y="2057400"/>
            <a:ext cx="822960" cy="822960"/>
          </a:xfrm>
          <a:prstGeom prst="ellipse">
            <a:avLst/>
          </a:prstGeom>
          <a:solidFill>
            <a:srgbClr val="D9761B"/>
          </a:solidFill>
          <a:ln/>
        </p:spPr>
      </p:sp>
      <p:sp>
        <p:nvSpPr>
          <p:cNvPr id="8" name="Text 6"/>
          <p:cNvSpPr/>
          <p:nvPr/>
        </p:nvSpPr>
        <p:spPr>
          <a:xfrm>
            <a:off x="1871320" y="208483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92328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管理员配置 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048" y="3474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进入「AI 配置」填入 API Key，选择模型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01288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449928" y="173736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84368" y="2057400"/>
            <a:ext cx="822960" cy="822960"/>
          </a:xfrm>
          <a:prstGeom prst="ellipse">
            <a:avLst/>
          </a:prstGeom>
          <a:solidFill>
            <a:srgbClr val="2E6350"/>
          </a:solidFill>
          <a:ln/>
        </p:spPr>
      </p:sp>
      <p:sp>
        <p:nvSpPr>
          <p:cNvPr id="14" name="Text 12"/>
          <p:cNvSpPr/>
          <p:nvPr/>
        </p:nvSpPr>
        <p:spPr>
          <a:xfrm>
            <a:off x="5711800" y="208483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32808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录入职位 + 简历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78528" y="3474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管理员录入客户职位，员工录入求职者简历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41768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290408" y="173736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24848" y="2057400"/>
            <a:ext cx="822960" cy="822960"/>
          </a:xfrm>
          <a:prstGeom prst="ellipse">
            <a:avLst/>
          </a:prstGeom>
          <a:solidFill>
            <a:srgbClr val="2E6350"/>
          </a:solidFill>
          <a:ln/>
        </p:spPr>
      </p:sp>
      <p:sp>
        <p:nvSpPr>
          <p:cNvPr id="20" name="Text 18"/>
          <p:cNvSpPr/>
          <p:nvPr/>
        </p:nvSpPr>
        <p:spPr>
          <a:xfrm>
            <a:off x="9552280" y="208483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473288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发起匹配 → 跟进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19008" y="3474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选职位 + 简历 → 生成话术 → 持续跟进回访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88720" y="4754880"/>
            <a:ext cx="9814255" cy="1234440"/>
          </a:xfrm>
          <a:prstGeom prst="roundRect">
            <a:avLst>
              <a:gd name="adj" fmla="val 5926"/>
            </a:avLst>
          </a:prstGeom>
          <a:solidFill>
            <a:srgbClr val="1F4035"/>
          </a:solidFill>
          <a:ln/>
        </p:spPr>
      </p:sp>
      <p:sp>
        <p:nvSpPr>
          <p:cNvPr id="24" name="Text 22"/>
          <p:cNvSpPr/>
          <p:nvPr/>
        </p:nvSpPr>
        <p:spPr>
          <a:xfrm>
            <a:off x="1216152" y="4782312"/>
            <a:ext cx="9759391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访问地址：</a:t>
            </a:r>
            <a:pPr algn="ctr" indent="0" marL="0">
              <a:buNone/>
            </a:pPr>
            <a:r>
              <a:rPr lang="en-US" sz="1300" b="1" dirty="0">
                <a:solidFill>
                  <a:srgbClr val="E69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http://localhost:5174/</a:t>
            </a:r>
            <a:pPr algn="ctr" indent="0" marL="0">
              <a:buNone/>
            </a:pPr>
            <a:r>
              <a:rPr lang="en-US" sz="1300" dirty="0">
                <a:solidFill>
                  <a:srgbClr val="8A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默认账号：</a:t>
            </a:r>
            <a:pPr algn="ctr" indent="0" marL="0">
              <a:buNone/>
            </a:pPr>
            <a:r>
              <a:rPr lang="en-US" sz="1300" b="1" dirty="0">
                <a:solidFill>
                  <a:srgbClr val="E69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/ admin123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A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后续可打包成 exe 桌面版，离线可用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094415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4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6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761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DFB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5181448" y="3794760"/>
            <a:ext cx="1828800" cy="54864"/>
          </a:xfrm>
          <a:prstGeom prst="rect">
            <a:avLst/>
          </a:prstGeom>
          <a:solidFill>
            <a:srgbClr val="D9761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02336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9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半人工 · 让招聘更高效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人力代招公司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招聘辅助工具 - 产品介绍</dc:title>
  <dc:subject>AI 半人工招聘提效系统</dc:subject>
  <dc:creator>招聘辅助工具</dc:creator>
  <cp:lastModifiedBy>招聘辅助工具</cp:lastModifiedBy>
  <cp:revision>1</cp:revision>
  <dcterms:created xsi:type="dcterms:W3CDTF">2026-07-20T17:05:31Z</dcterms:created>
  <dcterms:modified xsi:type="dcterms:W3CDTF">2026-07-20T17:05:31Z</dcterms:modified>
</cp:coreProperties>
</file>